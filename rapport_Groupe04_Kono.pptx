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Orange Money</c:v>
                </c:pt>
              </c:strCache>
            </c:strRef>
          </c:tx>
          <c:spPr>
            <a:solidFill>
              <a:srgbClr val="1F6F6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Douala</c:v>
                  </c:pt>
                  <c:pt idx="1">
                    <c:v>Yaoundé</c:v>
                  </c:pt>
                  <c:pt idx="2">
                    <c:v>Dschang</c:v>
                  </c:pt>
                  <c:pt idx="3">
                    <c:v>Bafoussam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149475</c:v>
                </c:pt>
                <c:pt idx="1">
                  <c:v>72810</c:v>
                </c:pt>
                <c:pt idx="2">
                  <c:v>61187</c:v>
                </c:pt>
                <c:pt idx="3">
                  <c:v>47871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MTN Mobile Money</c:v>
                </c:pt>
              </c:strCache>
            </c:strRef>
          </c:tx>
          <c:spPr>
            <a:solidFill>
              <a:srgbClr val="3C5A78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Douala</c:v>
                  </c:pt>
                  <c:pt idx="1">
                    <c:v>Yaoundé</c:v>
                  </c:pt>
                  <c:pt idx="2">
                    <c:v>Dschang</c:v>
                  </c:pt>
                  <c:pt idx="3">
                    <c:v>Bafoussam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129580</c:v>
                </c:pt>
                <c:pt idx="1">
                  <c:v>87843</c:v>
                </c:pt>
                <c:pt idx="2">
                  <c:v>64993</c:v>
                </c:pt>
                <c:pt idx="3">
                  <c:v>68465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Espèces</c:v>
                </c:pt>
              </c:strCache>
            </c:strRef>
          </c:tx>
          <c:spPr>
            <a:solidFill>
              <a:srgbClr val="C97A3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Douala</c:v>
                  </c:pt>
                  <c:pt idx="1">
                    <c:v>Yaoundé</c:v>
                  </c:pt>
                  <c:pt idx="2">
                    <c:v>Dschang</c:v>
                  </c:pt>
                  <c:pt idx="3">
                    <c:v>Bafoussam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152128</c:v>
                </c:pt>
                <c:pt idx="1">
                  <c:v>70241</c:v>
                </c:pt>
                <c:pt idx="2">
                  <c:v>69224</c:v>
                </c:pt>
                <c:pt idx="3">
                  <c:v>62555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859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C8591"/>
                    </a:solidFill>
                    <a:latin typeface="Arial"/>
                  </a:rPr>
                  <a:t>FCFA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C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 moyenne</c:v>
                </c:pt>
              </c:strCache>
            </c:strRef>
          </c:tx>
          <c:spPr>
            <a:solidFill>
              <a:srgbClr val="C97A3E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Brenda A.</c:v>
                  </c:pt>
                  <c:pt idx="1">
                    <c:v>Daniella K.</c:v>
                  </c:pt>
                  <c:pt idx="2">
                    <c:v>Nadine F.</c:v>
                  </c:pt>
                  <c:pt idx="3">
                    <c:v>Kevin A.</c:v>
                  </c:pt>
                  <c:pt idx="4">
                    <c:v>Jordan B.</c:v>
                  </c:pt>
                  <c:pt idx="5">
                    <c:v>Paul A.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4.39</c:v>
                </c:pt>
                <c:pt idx="1">
                  <c:v>4.3</c:v>
                </c:pt>
                <c:pt idx="2">
                  <c:v>4.27</c:v>
                </c:pt>
                <c:pt idx="3">
                  <c:v>4.25</c:v>
                </c:pt>
                <c:pt idx="4">
                  <c:v>4.24</c:v>
                </c:pt>
                <c:pt idx="5">
                  <c:v>4.2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4"/>
        </c:scaling>
        <c:delete val="1"/>
        <c:axPos val="b"/>
        <c:majorGridlines>
          <c:spPr>
            <a:ln w="9525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Matin (7h-8h)</c:v>
                </c:pt>
              </c:strCache>
            </c:strRef>
          </c:tx>
          <c:spPr>
            <a:solidFill>
              <a:srgbClr val="C97A3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7h</c:v>
                  </c:pt>
                  <c:pt idx="1">
                    <c:v>8h</c:v>
                  </c:pt>
                  <c:pt idx="2">
                    <c:v>17h</c:v>
                  </c:pt>
                  <c:pt idx="3">
                    <c:v>18h</c:v>
                  </c:pt>
                  <c:pt idx="4">
                    <c:v>19h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104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Soir (17h-19h)</c:v>
                </c:pt>
              </c:strCache>
            </c:strRef>
          </c:tx>
          <c:spPr>
            <a:solidFill>
              <a:srgbClr val="1F6F6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7h</c:v>
                  </c:pt>
                  <c:pt idx="1">
                    <c:v>8h</c:v>
                  </c:pt>
                  <c:pt idx="2">
                    <c:v>17h</c:v>
                  </c:pt>
                  <c:pt idx="3">
                    <c:v>18h</c:v>
                  </c:pt>
                  <c:pt idx="4">
                    <c:v>19h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>105</c:v>
                </c:pt>
                <c:pt idx="3">
                  <c:v>95</c:v>
                </c:pt>
                <c:pt idx="4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C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Personne</c:v>
                </c:pt>
              </c:strCache>
            </c:strRef>
          </c:tx>
          <c:spPr>
            <a:solidFill>
              <a:srgbClr val="3C5A78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Douala</c:v>
                  </c:pt>
                  <c:pt idx="1">
                    <c:v>Bafoussam</c:v>
                  </c:pt>
                  <c:pt idx="2">
                    <c:v>Yaoundé</c:v>
                  </c:pt>
                  <c:pt idx="3">
                    <c:v>Dschang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11</c:v>
                </c:pt>
                <c:pt idx="2">
                  <c:v>5.4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Colis</c:v>
                </c:pt>
              </c:strCache>
            </c:strRef>
          </c:tx>
          <c:spPr>
            <a:solidFill>
              <a:srgbClr val="C97A3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Douala</c:v>
                  </c:pt>
                  <c:pt idx="1">
                    <c:v>Bafoussam</c:v>
                  </c:pt>
                  <c:pt idx="2">
                    <c:v>Yaoundé</c:v>
                  </c:pt>
                  <c:pt idx="3">
                    <c:v>Dschang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12.7</c:v>
                </c:pt>
                <c:pt idx="1">
                  <c:v>10</c:v>
                </c:pt>
                <c:pt idx="2">
                  <c:v>8.7</c:v>
                </c:pt>
                <c:pt idx="3">
                  <c:v>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C859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C8591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C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FCFA / km</c:v>
                </c:pt>
              </c:strCache>
            </c:strRef>
          </c:tx>
          <c:spPr>
            <a:solidFill>
              <a:srgbClr val="1F6F6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Camionnette</c:v>
                  </c:pt>
                  <c:pt idx="1">
                    <c:v>Moto</c:v>
                  </c:pt>
                  <c:pt idx="2">
                    <c:v>Voiture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309.3</c:v>
                </c:pt>
                <c:pt idx="1">
                  <c:v>306.2</c:v>
                </c:pt>
                <c:pt idx="2">
                  <c:v>283.1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50"/>
        </c:scaling>
        <c:delete val="0"/>
        <c:axPos val="l"/>
        <c:majorGridlines>
          <c:spPr>
            <a:ln w="9525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E7ED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C859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420624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4  ·  TRANSPORT &amp; LIVRAISON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3C5A7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97A3E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FINALE · DU SQL AU NoSQL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Plateforme de transport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de livraison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4 — Conception et mise en œuvre d’une base MongoDB avec Python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SDIA-4  ·  Groupe 04  ·  Enseignant : M. FOTSO T. Valdez W.  ·  07 octobre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8595360" cy="9144"/>
          </a:xfrm>
          <a:prstGeom prst="line">
            <a:avLst/>
          </a:prstGeom>
          <a:noFill/>
          <a:ln w="9525">
            <a:solidFill>
              <a:srgbClr val="2A3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DU GROUPE 04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19456" cy="21945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17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45811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KONO TCHOUMBA Jordan Julien Claude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5811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 de ce rapport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10912"/>
            <a:ext cx="219456" cy="219456"/>
          </a:xfrm>
          <a:prstGeom prst="ellipse">
            <a:avLst/>
          </a:prstGeom>
          <a:solidFill>
            <a:srgbClr val="24395C"/>
          </a:solidFill>
          <a:ln w="6350">
            <a:solidFill>
              <a:srgbClr val="243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010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49743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KPOUMIE Amza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4974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404104"/>
            <a:ext cx="219456" cy="219456"/>
          </a:xfrm>
          <a:prstGeom prst="ellipse">
            <a:avLst/>
          </a:prstGeom>
          <a:solidFill>
            <a:srgbClr val="24395C"/>
          </a:solidFill>
          <a:ln w="6350">
            <a:solidFill>
              <a:srgbClr val="243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04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53675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KWARISSA LADA Lydia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5367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797296"/>
            <a:ext cx="219456" cy="219456"/>
          </a:xfrm>
          <a:prstGeom prst="ellipse">
            <a:avLst/>
          </a:prstGeom>
          <a:solidFill>
            <a:srgbClr val="24395C"/>
          </a:solidFill>
          <a:ln w="6350">
            <a:solidFill>
              <a:srgbClr val="2439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7972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7607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NGANO Martha Shecho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5760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190488"/>
            <a:ext cx="219456" cy="219456"/>
          </a:xfrm>
          <a:prstGeom prst="ellipse">
            <a:avLst/>
          </a:prstGeom>
          <a:solidFill>
            <a:srgbClr val="24395C"/>
          </a:solidFill>
          <a:ln w="6350">
            <a:solidFill>
              <a:srgbClr val="2439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6190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61539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MATOUKAM CHOMSEM Mary Albane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6153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met en relation des clients avec des chauffeurs de moto, de voiture ou de camionnette.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transporte des personnes et livre des colis, dans plusieurs villes.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d’une course dépend de la zone et de l’heure (majoration aux heures de pointe).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paiements se font par mobile money (Orange Money, MTN) ou en espèces.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7315200" y="1554480"/>
            <a:ext cx="4325112" cy="4480560"/>
          </a:xfrm>
          <a:prstGeom prst="roundRect">
            <a:avLst>
              <a:gd name="adj" fmla="val 296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3524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COURSE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35240" y="2340864"/>
            <a:ext cx="438912" cy="438912"/>
          </a:xfrm>
          <a:prstGeom prst="ellipse">
            <a:avLst/>
          </a:prstGeom>
          <a:solidFill>
            <a:srgbClr val="1F6F6B"/>
          </a:solidFill>
          <a:ln w="6350">
            <a:solidFill>
              <a:srgbClr val="1F6F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2340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2578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Trajets courts, ville dense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3483864"/>
            <a:ext cx="438912" cy="438912"/>
          </a:xfrm>
          <a:prstGeom prst="ellipse">
            <a:avLst/>
          </a:prstGeom>
          <a:solidFill>
            <a:srgbClr val="1F6F6B"/>
          </a:solidFill>
          <a:ln w="6350">
            <a:solidFill>
              <a:srgbClr val="1F6F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3483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721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 personnes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35240" y="4626864"/>
            <a:ext cx="438912" cy="438912"/>
          </a:xfrm>
          <a:prstGeom prst="ellipse">
            <a:avLst/>
          </a:prstGeom>
          <a:solidFill>
            <a:srgbClr val="1F6F6B"/>
          </a:solidFill>
          <a:ln w="6350">
            <a:solidFill>
              <a:srgbClr val="1F6F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46268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599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Camionnette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8646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de colis volumineux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7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3514344" cy="2308860"/>
          </a:xfrm>
          <a:prstGeom prst="roundRect">
            <a:avLst>
              <a:gd name="adj" fmla="val 475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420624" cy="420624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24328"/>
            <a:ext cx="305714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lire, modifier, supprimer — en Python, avec gestion des erreurs.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4337304" y="1508760"/>
            <a:ext cx="3514344" cy="2308860"/>
          </a:xfrm>
          <a:prstGeom prst="roundRect">
            <a:avLst>
              <a:gd name="adj" fmla="val 475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5904" y="1737360"/>
            <a:ext cx="420624" cy="420624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2860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prix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624328"/>
            <a:ext cx="305714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tarifs de la zone et de la majoration aux heures de pointe.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125968" y="1508760"/>
            <a:ext cx="3514344" cy="2308860"/>
          </a:xfrm>
          <a:prstGeom prst="roundRect">
            <a:avLst>
              <a:gd name="adj" fmla="val 475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4568" y="1737360"/>
            <a:ext cx="420624" cy="420624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54568" y="228600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expirés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624328"/>
            <a:ext cx="305714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les chauffeurs dont permis, assurance ou carte grise ont expiré.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48640" y="4091940"/>
            <a:ext cx="3514344" cy="2308860"/>
          </a:xfrm>
          <a:prstGeom prst="roundRect">
            <a:avLst>
              <a:gd name="adj" fmla="val 475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20540"/>
            <a:ext cx="420624" cy="420624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320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86918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agrégations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207508"/>
            <a:ext cx="305714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une avec $lookup et une avec $unwind, interprétées.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4337304" y="4091940"/>
            <a:ext cx="3514344" cy="2308860"/>
          </a:xfrm>
          <a:prstGeom prst="roundRect">
            <a:avLst>
              <a:gd name="adj" fmla="val 475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65904" y="4320540"/>
            <a:ext cx="420624" cy="420624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5904" y="4320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65904" y="486918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justifiés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565904" y="5207508"/>
            <a:ext cx="305714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et composés, effet démontré avec explain.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8125968" y="4091940"/>
            <a:ext cx="3514344" cy="2308860"/>
          </a:xfrm>
          <a:prstGeom prst="roundRect">
            <a:avLst>
              <a:gd name="adj" fmla="val 475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54568" y="4320540"/>
            <a:ext cx="420624" cy="420624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54568" y="43205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54568" y="4869180"/>
            <a:ext cx="3057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&amp; exports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54568" y="5207508"/>
            <a:ext cx="3057144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 au lieu de supprimer ; exporter en JSON et CSV.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C97A3E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1D32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2514600" y="3429000"/>
            <a:ext cx="548640" cy="9144"/>
          </a:xfrm>
          <a:prstGeom prst="line">
            <a:avLst/>
          </a:prstGeom>
          <a:noFill/>
          <a:ln w="44450">
            <a:solidFill>
              <a:srgbClr val="C97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91840" y="2971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NoSQL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collections · imbriquer ou référencer · volumes de données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Schéma des collections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est le cœur du modèle : elle référence client, chauffeur et zone, et peut avoir une évaluation et un paiement.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714500" y="2295144"/>
            <a:ext cx="4384548" cy="1499616"/>
          </a:xfrm>
          <a:prstGeom prst="line">
            <a:avLst/>
          </a:prstGeom>
          <a:noFill/>
          <a:ln w="15875">
            <a:solidFill>
              <a:srgbClr val="C7D0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6099048" y="2295144"/>
            <a:ext cx="4375404" cy="1499616"/>
          </a:xfrm>
          <a:prstGeom prst="line">
            <a:avLst/>
          </a:prstGeom>
          <a:noFill/>
          <a:ln w="15875">
            <a:solidFill>
              <a:srgbClr val="C7D0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939028" y="3794760"/>
            <a:ext cx="160020" cy="1837944"/>
          </a:xfrm>
          <a:prstGeom prst="line">
            <a:avLst/>
          </a:prstGeom>
          <a:noFill/>
          <a:ln w="15875">
            <a:solidFill>
              <a:srgbClr val="C7D0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217420" y="3794760"/>
            <a:ext cx="3881628" cy="1636776"/>
          </a:xfrm>
          <a:prstGeom prst="line">
            <a:avLst/>
          </a:prstGeom>
          <a:noFill/>
          <a:ln w="15875">
            <a:solidFill>
              <a:srgbClr val="C7D0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3794760"/>
            <a:ext cx="4073652" cy="1636776"/>
          </a:xfrm>
          <a:prstGeom prst="line">
            <a:avLst/>
          </a:prstGeom>
          <a:noFill/>
          <a:ln w="15875">
            <a:solidFill>
              <a:srgbClr val="C7D0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939028" y="2295144"/>
            <a:ext cx="4535424" cy="3337560"/>
          </a:xfrm>
          <a:prstGeom prst="line">
            <a:avLst/>
          </a:prstGeom>
          <a:noFill/>
          <a:ln w="13970">
            <a:solidFill>
              <a:srgbClr val="3C5A78"/>
            </a:solidFill>
            <a:prstDash val="dash"/>
          </a:ln>
        </p:spPr>
      </p:sp>
      <p:sp>
        <p:nvSpPr>
          <p:cNvPr id="10" name="card"/>
          <p:cNvSpPr/>
          <p:nvPr/>
        </p:nvSpPr>
        <p:spPr>
          <a:xfrm>
            <a:off x="731520" y="1920240"/>
            <a:ext cx="1965960" cy="749808"/>
          </a:xfrm>
          <a:prstGeom prst="roundRect">
            <a:avLst>
              <a:gd name="adj" fmla="val 12195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9202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9491472" y="1920240"/>
            <a:ext cx="1965960" cy="749808"/>
          </a:xfrm>
          <a:prstGeom prst="roundRect">
            <a:avLst>
              <a:gd name="adj" fmla="val 12195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91472" y="19202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5001768" y="33375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F2545"/>
          </a:solidFill>
          <a:ln w="9525">
            <a:solidFill>
              <a:srgbClr val="0F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864608" y="525780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525780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250" dirty="0"/>
          </a:p>
        </p:txBody>
      </p:sp>
      <p:sp>
        <p:nvSpPr>
          <p:cNvPr id="18" name="card"/>
          <p:cNvSpPr/>
          <p:nvPr/>
        </p:nvSpPr>
        <p:spPr>
          <a:xfrm>
            <a:off x="1280160" y="512064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512064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9235440" y="512064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5120640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250" dirty="0"/>
          </a:p>
        </p:txBody>
      </p:sp>
      <p:sp>
        <p:nvSpPr>
          <p:cNvPr id="22" name="card"/>
          <p:cNvSpPr/>
          <p:nvPr/>
        </p:nvSpPr>
        <p:spPr>
          <a:xfrm>
            <a:off x="3559302" y="2907792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59302" y="290779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1</a:t>
            </a:r>
            <a:endParaRPr lang="en-US" sz="1000" dirty="0"/>
          </a:p>
        </p:txBody>
      </p:sp>
      <p:sp>
        <p:nvSpPr>
          <p:cNvPr id="24" name="card"/>
          <p:cNvSpPr/>
          <p:nvPr/>
        </p:nvSpPr>
        <p:spPr>
          <a:xfrm>
            <a:off x="7939278" y="2907792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39278" y="290779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1</a:t>
            </a:r>
            <a:endParaRPr lang="en-US" sz="1000" dirty="0"/>
          </a:p>
        </p:txBody>
      </p:sp>
      <p:sp>
        <p:nvSpPr>
          <p:cNvPr id="26" name="card"/>
          <p:cNvSpPr/>
          <p:nvPr/>
        </p:nvSpPr>
        <p:spPr>
          <a:xfrm>
            <a:off x="5671566" y="4576572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71566" y="457657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1</a:t>
            </a:r>
            <a:endParaRPr lang="en-US" sz="1000" dirty="0"/>
          </a:p>
        </p:txBody>
      </p:sp>
      <p:sp>
        <p:nvSpPr>
          <p:cNvPr id="28" name="card"/>
          <p:cNvSpPr/>
          <p:nvPr/>
        </p:nvSpPr>
        <p:spPr>
          <a:xfrm>
            <a:off x="3810762" y="4475988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10762" y="447598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0..1</a:t>
            </a:r>
            <a:endParaRPr lang="en-US" sz="1000" dirty="0"/>
          </a:p>
        </p:txBody>
      </p:sp>
      <p:sp>
        <p:nvSpPr>
          <p:cNvPr id="30" name="card"/>
          <p:cNvSpPr/>
          <p:nvPr/>
        </p:nvSpPr>
        <p:spPr>
          <a:xfrm>
            <a:off x="7788402" y="4475988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88402" y="447598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0..1</a:t>
            </a:r>
            <a:endParaRPr lang="en-US" sz="1000" dirty="0"/>
          </a:p>
        </p:txBody>
      </p:sp>
      <p:sp>
        <p:nvSpPr>
          <p:cNvPr id="32" name="card"/>
          <p:cNvSpPr/>
          <p:nvPr/>
        </p:nvSpPr>
        <p:spPr>
          <a:xfrm>
            <a:off x="7859268" y="3826764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59268" y="382676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pointillé : chaque chauffeur référence aussi sa zone (tarifs et coefficient de pointe).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Imbriquer ou référencer ?</a:t>
            </a:r>
            <a:endParaRPr lang="en-US" sz="27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548640" y="1417320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4C8C62"/>
          </a:solidFill>
          <a:ln w="9525">
            <a:solidFill>
              <a:srgbClr val="4C8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IMBRIQUÉ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0552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Véhicule, documents, position — chauffeurs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favorites — clients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 et arrivée — courses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Majoration de pointe — zones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Petit, propre à un seul parent, toujours lu avec lui.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6245352" y="14173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6245352" y="1417320"/>
            <a:ext cx="5394960" cy="530352"/>
          </a:xfrm>
          <a:prstGeom prst="roundRect">
            <a:avLst>
              <a:gd name="adj" fmla="val 20690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45352" y="141732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RÉFÉRENCÉ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130552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chauffeurs et courses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chauffeur — courses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— évaluations et paiements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Grossit sans limite, ou s’interroge seul.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548640" y="48463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C97A3E"/>
          </a:solidFill>
          <a:ln w="9525">
            <a:solidFill>
              <a:srgbClr val="C97A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02920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copiés dans la course : ville · type_vehicule · prix · mode_paiement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76672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7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le chiffre d’affaires passé reste vrai même si les tarifs de zone changent plus tard.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de document par collection</a:t>
            </a:r>
            <a:endParaRPr lang="en-US" sz="27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3514344" cy="23088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73352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CHAUFFEURS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2828544" y="1691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28544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Référencé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75688"/>
            <a:ext cx="305714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nom, prenom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(réf.), statut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vehicule { type }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(GeoJSON)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[ ]</a:t>
            </a:r>
            <a:endParaRPr lang="en-US" sz="980" dirty="0"/>
          </a:p>
        </p:txBody>
      </p:sp>
      <p:sp>
        <p:nvSpPr>
          <p:cNvPr id="8" name="card"/>
          <p:cNvSpPr/>
          <p:nvPr/>
        </p:nvSpPr>
        <p:spPr>
          <a:xfrm>
            <a:off x="4337304" y="1508760"/>
            <a:ext cx="3514344" cy="23088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5904" y="1673352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617208" y="1691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4C8C62"/>
          </a:solidFill>
          <a:ln w="9525">
            <a:solidFill>
              <a:srgbClr val="4C8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17208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Imbriqué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075688"/>
            <a:ext cx="305714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nom, prenom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moyen_paiement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adresses_favorites [ ]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libelle, adresse,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 }</a:t>
            </a:r>
            <a:endParaRPr lang="en-US" sz="980" dirty="0"/>
          </a:p>
        </p:txBody>
      </p:sp>
      <p:sp>
        <p:nvSpPr>
          <p:cNvPr id="13" name="card"/>
          <p:cNvSpPr/>
          <p:nvPr/>
        </p:nvSpPr>
        <p:spPr>
          <a:xfrm>
            <a:off x="8125968" y="1508760"/>
            <a:ext cx="3514344" cy="23088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4568" y="1673352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10405872" y="16916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5872" y="16916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Référencée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2075688"/>
            <a:ext cx="305714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ville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centre (GeoJSON)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prix_base, prix_km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majoration_pointe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heures, coefficient }</a:t>
            </a:r>
            <a:endParaRPr lang="en-US" sz="980" dirty="0"/>
          </a:p>
        </p:txBody>
      </p:sp>
      <p:sp>
        <p:nvSpPr>
          <p:cNvPr id="18" name="card"/>
          <p:cNvSpPr/>
          <p:nvPr/>
        </p:nvSpPr>
        <p:spPr>
          <a:xfrm>
            <a:off x="548640" y="4091940"/>
            <a:ext cx="3514344" cy="23088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256532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2828544" y="42748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97A3E"/>
          </a:solidFill>
          <a:ln w="9525">
            <a:solidFill>
              <a:srgbClr val="C97A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28544" y="42748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58868"/>
            <a:ext cx="305714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 client, chauffeur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ville, type_vehicule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prix (copié)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 / arrivee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statut, date</a:t>
            </a:r>
            <a:endParaRPr lang="en-US" sz="980" dirty="0"/>
          </a:p>
        </p:txBody>
      </p:sp>
      <p:sp>
        <p:nvSpPr>
          <p:cNvPr id="23" name="card"/>
          <p:cNvSpPr/>
          <p:nvPr/>
        </p:nvSpPr>
        <p:spPr>
          <a:xfrm>
            <a:off x="4337304" y="4091940"/>
            <a:ext cx="3514344" cy="23088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65904" y="4256532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EVALUATIONS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6617208" y="42748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17208" y="42748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Séparée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65904" y="4658868"/>
            <a:ext cx="305714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(réf., unique)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chauffeur (copié)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note_chauffeur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note_client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commentaire, date</a:t>
            </a:r>
            <a:endParaRPr lang="en-US" sz="980" dirty="0"/>
          </a:p>
        </p:txBody>
      </p:sp>
      <p:sp>
        <p:nvSpPr>
          <p:cNvPr id="28" name="card"/>
          <p:cNvSpPr/>
          <p:nvPr/>
        </p:nvSpPr>
        <p:spPr>
          <a:xfrm>
            <a:off x="8125968" y="4091940"/>
            <a:ext cx="3514344" cy="2308860"/>
          </a:xfrm>
          <a:prstGeom prst="roundRect">
            <a:avLst>
              <a:gd name="adj" fmla="val 396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54568" y="4256532"/>
            <a:ext cx="232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10405872" y="42748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405872" y="42748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Séparée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354568" y="4658868"/>
            <a:ext cx="305714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 (réf., unique)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montant, methode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</a:t>
            </a:r>
            <a:endParaRPr lang="en-US" sz="9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1C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générées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generer_donnees.py — random.seed(42) : jeu de données reproductible.</a:t>
            </a:r>
            <a:endParaRPr lang="en-US" sz="1250" dirty="0"/>
          </a:p>
        </p:txBody>
      </p:sp>
      <p:sp>
        <p:nvSpPr>
          <p:cNvPr id="4" name="card"/>
          <p:cNvSpPr/>
          <p:nvPr/>
        </p:nvSpPr>
        <p:spPr>
          <a:xfrm>
            <a:off x="548640" y="1737360"/>
            <a:ext cx="3514344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8716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4337304" y="1737360"/>
            <a:ext cx="3514344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1624" y="193852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11624" y="248716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</a:t>
            </a:r>
            <a:endParaRPr lang="en-US" sz="1050" dirty="0"/>
          </a:p>
        </p:txBody>
      </p:sp>
      <p:sp>
        <p:nvSpPr>
          <p:cNvPr id="10" name="card"/>
          <p:cNvSpPr/>
          <p:nvPr/>
        </p:nvSpPr>
        <p:spPr>
          <a:xfrm>
            <a:off x="8125968" y="1737360"/>
            <a:ext cx="3514344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0288" y="193852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400288" y="248716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548640" y="3383280"/>
            <a:ext cx="3514344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58444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3308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050" dirty="0"/>
          </a:p>
        </p:txBody>
      </p:sp>
      <p:sp>
        <p:nvSpPr>
          <p:cNvPr id="16" name="card"/>
          <p:cNvSpPr/>
          <p:nvPr/>
        </p:nvSpPr>
        <p:spPr>
          <a:xfrm>
            <a:off x="4337304" y="3383280"/>
            <a:ext cx="3514344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1624" y="358444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1 005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611624" y="413308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050" dirty="0"/>
          </a:p>
        </p:txBody>
      </p:sp>
      <p:sp>
        <p:nvSpPr>
          <p:cNvPr id="19" name="card"/>
          <p:cNvSpPr/>
          <p:nvPr/>
        </p:nvSpPr>
        <p:spPr>
          <a:xfrm>
            <a:off x="8125968" y="3383280"/>
            <a:ext cx="3514344" cy="1417320"/>
          </a:xfrm>
          <a:prstGeom prst="roundRect">
            <a:avLst>
              <a:gd name="adj" fmla="val 774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00288" y="3584448"/>
            <a:ext cx="2965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8400288" y="413308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</a:t>
            </a:r>
            <a:endParaRPr lang="en-US" sz="1050" dirty="0"/>
          </a:p>
        </p:txBody>
      </p:sp>
      <p:sp>
        <p:nvSpPr>
          <p:cNvPr id="22" name="card"/>
          <p:cNvSpPr/>
          <p:nvPr/>
        </p:nvSpPr>
        <p:spPr>
          <a:xfrm>
            <a:off x="548640" y="5029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193792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villes (Douala, Yaoundé, Bafoussam, Dschang)   ·   109 courses annulées (≈ 9 %)   ·   chauffeurs inégalement demandés, pour que le top 10 ne soit pas vide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— preuve avec Compass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transport_kono : les 6 collections et leur nombre de documents.</a:t>
            </a:r>
            <a:endParaRPr lang="en-US" sz="1250" dirty="0"/>
          </a:p>
        </p:txBody>
      </p:sp>
      <p:sp>
        <p:nvSpPr>
          <p:cNvPr id="4" name="card"/>
          <p:cNvSpPr/>
          <p:nvPr/>
        </p:nvSpPr>
        <p:spPr>
          <a:xfrm>
            <a:off x="992124" y="1956816"/>
            <a:ext cx="10204704" cy="4449749"/>
          </a:xfrm>
          <a:prstGeom prst="roundRect">
            <a:avLst>
              <a:gd name="adj" fmla="val 2055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pic>
        <p:nvPicPr>
          <p:cNvPr id="5" name="Image 0" descr="/home/claude/deck_v2/cap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2103120"/>
            <a:ext cx="9875520" cy="41571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626021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chauffeurs · 300 clients · 5 zones · 1,1K courses · 432 évaluations (468 archivées) · 1K paiements — capture prise après un test d’archivage.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C97A3E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1D32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2514600" y="3429000"/>
            <a:ext cx="548640" cy="9144"/>
          </a:xfrm>
          <a:prstGeom prst="line">
            <a:avLst/>
          </a:prstGeom>
          <a:noFill/>
          <a:ln w="44450">
            <a:solidFill>
              <a:srgbClr val="C97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91840" y="2971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œuvre : CRUD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lire, modifier, supprimer et archiver — en Python, avec gestion des erreurs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une course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463040" y="1874520"/>
            <a:ext cx="548640" cy="548640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type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la distance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9232" y="2148840"/>
            <a:ext cx="381000" cy="9144"/>
          </a:xfrm>
          <a:prstGeom prst="line">
            <a:avLst/>
          </a:prstGeom>
          <a:noFill/>
          <a:ln w="19050">
            <a:solidFill>
              <a:srgbClr val="7C85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67784" y="1874520"/>
            <a:ext cx="548640" cy="548640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6778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53384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client et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 disponible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03976" y="2148840"/>
            <a:ext cx="381000" cy="9144"/>
          </a:xfrm>
          <a:prstGeom prst="line">
            <a:avLst/>
          </a:prstGeom>
          <a:noFill/>
          <a:ln w="19050">
            <a:solidFill>
              <a:srgbClr val="7C85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2528" y="1874520"/>
            <a:ext cx="548640" cy="548640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725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8128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prix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(zone + heure de pointe)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08720" y="2148840"/>
            <a:ext cx="381000" cy="9144"/>
          </a:xfrm>
          <a:prstGeom prst="line">
            <a:avLst/>
          </a:prstGeom>
          <a:noFill/>
          <a:ln w="19050">
            <a:solidFill>
              <a:srgbClr val="7C85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77272" y="1874520"/>
            <a:ext cx="548640" cy="548640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772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62872" y="2651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la course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(ville, véhicule copiés)</a:t>
            </a:r>
            <a:endParaRPr lang="en-US" sz="1250" dirty="0"/>
          </a:p>
        </p:txBody>
      </p:sp>
      <p:sp>
        <p:nvSpPr>
          <p:cNvPr id="18" name="card"/>
          <p:cNvSpPr/>
          <p:nvPr/>
        </p:nvSpPr>
        <p:spPr>
          <a:xfrm>
            <a:off x="548640" y="338328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54787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GÉRÉES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822192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invalide (ni "personne" ni "colis") ou distance négative → ValueError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chauffeur introuvable, ou chauffeur non disponible → LookupError / ValueError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360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= prochain_code_course(db)  →  CRS-01201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18888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RÉEL</a:t>
            </a:r>
            <a:endParaRPr lang="en-US" sz="950" dirty="0"/>
          </a:p>
        </p:txBody>
      </p:sp>
      <p:sp>
        <p:nvSpPr>
          <p:cNvPr id="23" name="card"/>
          <p:cNvSpPr/>
          <p:nvPr/>
        </p:nvSpPr>
        <p:spPr>
          <a:xfrm>
            <a:off x="3683415" y="4983480"/>
            <a:ext cx="4822122" cy="1371600"/>
          </a:xfrm>
          <a:prstGeom prst="roundRect">
            <a:avLst>
              <a:gd name="adj" fmla="val 5333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pic>
        <p:nvPicPr>
          <p:cNvPr id="24" name="Image 0" descr="/home/claude/deck_v2/cap_cr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3143" y="5074920"/>
            <a:ext cx="4602666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17904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90472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 disponibles d’une zone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55648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chauffeurs_disponibles(db, "ZON-01")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423160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d’un client, récentes d’abord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88336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courses_client(db, "CLI-0001")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3355848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évaluations d’un chauffeur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621024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historique_chauffeur(db, "CHF-0001")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4288536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par statut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553712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courses_par_statut(db, "en_cours")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221224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 avec un document expiré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5486400"/>
            <a:ext cx="10433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chauffeurs_documents_expires(db)  —  $elemMatch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2423160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RÉEL</a:t>
            </a:r>
            <a:endParaRPr lang="en-US" sz="1100" dirty="0"/>
          </a:p>
        </p:txBody>
      </p:sp>
      <p:sp>
        <p:nvSpPr>
          <p:cNvPr id="24" name="card"/>
          <p:cNvSpPr/>
          <p:nvPr/>
        </p:nvSpPr>
        <p:spPr>
          <a:xfrm>
            <a:off x="4965192" y="2679192"/>
            <a:ext cx="6784848" cy="1309329"/>
          </a:xfrm>
          <a:prstGeom prst="roundRect">
            <a:avLst>
              <a:gd name="adj" fmla="val 5587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pic>
        <p:nvPicPr>
          <p:cNvPr id="25" name="Image 0" descr="/home/claude/deck_v2/cap_l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788920"/>
            <a:ext cx="6565392" cy="10898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 — valider les saisies</a:t>
            </a:r>
            <a:endParaRPr lang="en-US" sz="27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548640" y="1417320"/>
            <a:ext cx="5394960" cy="502920"/>
          </a:xfrm>
          <a:prstGeom prst="roundRect">
            <a:avLst>
              <a:gd name="adj" fmla="val 21818"/>
            </a:avLst>
          </a:prstGeom>
          <a:solidFill>
            <a:srgbClr val="4C8C62"/>
          </a:solidFill>
          <a:ln w="9525">
            <a:solidFill>
              <a:srgbClr val="4C8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maj_position(db, "CHF-0001", 9.71, 4.06)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longitude et latitude dans les bornes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changer_disponibilite(db, "CHF-0001", "hors_ligne")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statut reconnu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6245352" y="141732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6245352" y="1417320"/>
            <a:ext cx="5394960" cy="502920"/>
          </a:xfrm>
          <a:prstGeom prst="roundRect">
            <a:avLst>
              <a:gd name="adj" fmla="val 21818"/>
            </a:avLst>
          </a:prstGeom>
          <a:solidFill>
            <a:srgbClr val="B3402B"/>
          </a:solidFill>
          <a:ln w="9525">
            <a:solidFill>
              <a:srgbClr val="B34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45352" y="1417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maj_position(db, "CHF-0001", 200, 4)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Position invalide : longitude [-180;180]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changer_disponibilite(db, "CHF-0001", "endormi")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Statut invalide.</a:t>
            </a:r>
            <a:endParaRPr lang="en-US" sz="1150" dirty="0"/>
          </a:p>
        </p:txBody>
      </p:sp>
      <p:sp>
        <p:nvSpPr>
          <p:cNvPr id="17" name="card"/>
          <p:cNvSpPr/>
          <p:nvPr/>
        </p:nvSpPr>
        <p:spPr>
          <a:xfrm>
            <a:off x="1431036" y="4370832"/>
            <a:ext cx="9326880" cy="1259568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8" name="Image 0" descr="/home/claude/deck_v2/crop_modifie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4480560"/>
            <a:ext cx="9052560" cy="10401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 — cycle de vie d’une course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371600" y="1691640"/>
            <a:ext cx="640080" cy="64008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Demandée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07792" y="2011680"/>
            <a:ext cx="502920" cy="9144"/>
          </a:xfrm>
          <a:prstGeom prst="line">
            <a:avLst/>
          </a:prstGeom>
          <a:noFill/>
          <a:ln w="22225">
            <a:solidFill>
              <a:srgbClr val="7C85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06824" y="1691640"/>
            <a:ext cx="640080" cy="64008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83864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3016" y="2011680"/>
            <a:ext cx="502920" cy="9144"/>
          </a:xfrm>
          <a:prstGeom prst="line">
            <a:avLst/>
          </a:prstGeom>
          <a:noFill/>
          <a:ln w="22225">
            <a:solidFill>
              <a:srgbClr val="7C859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42048" y="1691640"/>
            <a:ext cx="640080" cy="64008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088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778240" y="2011680"/>
            <a:ext cx="502920" cy="9144"/>
          </a:xfrm>
          <a:prstGeom prst="line">
            <a:avLst/>
          </a:prstGeom>
          <a:noFill/>
          <a:ln w="22225">
            <a:solidFill>
              <a:srgbClr val="7C859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77272" y="1691640"/>
            <a:ext cx="640080" cy="640080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54312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2651760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 → en_course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68312" y="265176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 → disponible, nb_courses +1,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créé (en_attente)</a:t>
            </a:r>
            <a:endParaRPr lang="en-US" sz="1050" dirty="0"/>
          </a:p>
        </p:txBody>
      </p:sp>
      <p:sp>
        <p:nvSpPr>
          <p:cNvPr id="16" name="card"/>
          <p:cNvSpPr/>
          <p:nvPr/>
        </p:nvSpPr>
        <p:spPr>
          <a:xfrm>
            <a:off x="548640" y="35661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confirmer_paiement()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069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en_attente → validé — refusé si déjà validé.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245352" y="35661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B3402B"/>
          </a:solidFill>
          <a:ln w="9525">
            <a:solidFill>
              <a:srgbClr val="B34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9672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4023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6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transaction multi-documents sans replica set : la cohérence entre course, chauffeur et paiement repose sur les filtres du code.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3424428" y="4937760"/>
            <a:ext cx="5340096" cy="1578680"/>
          </a:xfrm>
          <a:prstGeom prst="roundRect">
            <a:avLst>
              <a:gd name="adj" fmla="val 4634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pic>
        <p:nvPicPr>
          <p:cNvPr id="23" name="Image 0" descr="/home/claude/deck_v2/crop_modifier_bot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4156" y="5029200"/>
            <a:ext cx="5120640" cy="139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Supprimer et archiver</a:t>
            </a:r>
            <a:endParaRPr lang="en-US" sz="27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DIRECTE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supprimer_courses_annulees(db)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risque ici : une course annulée n’a ni paiement, ni évaluation.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d’utile à conserver.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245352" y="141732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19672" y="2121408"/>
            <a:ext cx="292608" cy="292608"/>
          </a:xfrm>
          <a:prstGeom prst="ellipse">
            <a:avLst/>
          </a:prstGeom>
          <a:solidFill>
            <a:srgbClr val="4C8C62"/>
          </a:solidFill>
          <a:ln w="6350">
            <a:solidFill>
              <a:srgbClr val="4C8C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les documents du filtre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19672" y="2724912"/>
            <a:ext cx="292608" cy="292608"/>
          </a:xfrm>
          <a:prstGeom prst="ellipse">
            <a:avLst/>
          </a:prstGeom>
          <a:solidFill>
            <a:srgbClr val="4C8C62"/>
          </a:solidFill>
          <a:ln w="6350">
            <a:solidFill>
              <a:srgbClr val="4C8C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7066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date_archivage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19672" y="3328416"/>
            <a:ext cx="292608" cy="292608"/>
          </a:xfrm>
          <a:prstGeom prst="ellipse">
            <a:avLst/>
          </a:prstGeom>
          <a:solidFill>
            <a:srgbClr val="4C8C62"/>
          </a:solidFill>
          <a:ln w="6350">
            <a:solidFill>
              <a:srgbClr val="4C8C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dans &lt;collection&gt;_archives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19672" y="3931920"/>
            <a:ext cx="292608" cy="292608"/>
          </a:xfrm>
          <a:prstGeom prst="ellipse">
            <a:avLst/>
          </a:prstGeom>
          <a:solidFill>
            <a:srgbClr val="4C8C62"/>
          </a:solidFill>
          <a:ln w="6350">
            <a:solidFill>
              <a:srgbClr val="4C8C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de la collection d’origine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archiver_evaluations_anciennes(db, mois=6) — rien n’est perdu.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2025396" y="4828032"/>
            <a:ext cx="8138160" cy="1767816"/>
          </a:xfrm>
          <a:prstGeom prst="roundRect">
            <a:avLst>
              <a:gd name="adj" fmla="val 4138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pic>
        <p:nvPicPr>
          <p:cNvPr id="22" name="Image 0" descr="/home/claude/deck_v2/cap_suppri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4937760"/>
            <a:ext cx="7863840" cy="1548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C97A3E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1D32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2514600" y="3429000"/>
            <a:ext cx="548640" cy="9144"/>
          </a:xfrm>
          <a:prstGeom prst="line">
            <a:avLst/>
          </a:prstGeom>
          <a:noFill/>
          <a:ln w="44450">
            <a:solidFill>
              <a:srgbClr val="C97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91840" y="2971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agrégations &amp; index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agrégations interprétées, index uniques et composés, effet mesuré avec explain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Agrégation 1 — Chiffre d’affaires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ville et par mode de paiement, courses terminées uniquement.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645920"/>
            <a:ext cx="3959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1 036 372 FCFA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194560"/>
            <a:ext cx="3959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D’AFFAIRES TOTAL (1 005 COURSES)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788920"/>
            <a:ext cx="3959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 pèse environ 42 % du total (deux zones, plus de chauffeurs).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moyens de paiement sont équilibrés dans chaque ville : l’application doit tous les supporter.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 plus élevé à Douala et Yaoundé — tarifs de zone plus hauts.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Agrégations 2 et 3 — Chauffeurs et heures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chauffeurs ($lookup + $unwind) et heures de pointe.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349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chauffeurs (6 des 10 ≥ 20 courses, notes de 4,09 à 4,39)</a:t>
            </a:r>
            <a:endParaRPr lang="en-US" sz="105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035040" y="1645920"/>
          <a:ext cx="5074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035040" y="5852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les plus demandées — deux pics, matin et soir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Agrégation 4 — Taux d’annulation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ville et par type de course.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1323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645920"/>
            <a:ext cx="3685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3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9 %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194560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GLOBAL D’ANNULATION (109 / 1 200)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788920"/>
            <a:ext cx="36850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4,3 % (Dschang, personnes) à 12,7 % (Douala, colis).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 est la ville la plus touchée, dans les deux types.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 de 58 à 320 courses : écarts à confirmer sur des données réelles.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Agrégation 5 — Revenu moyen par kilomètre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 type de véhicule, courses terminées.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60020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COURSES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498080" y="2011680"/>
            <a:ext cx="420624" cy="420624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65008" y="197510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52.1 %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065008" y="23134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Camionnette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98080" y="3200400"/>
            <a:ext cx="420624" cy="420624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65008" y="316382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27.9 %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35021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98080" y="4389120"/>
            <a:ext cx="420624" cy="420624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435254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20.0 %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065008" y="46908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557784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ne dépend pas du véhicule dans ce modèle — piste d’amélioration ci-après.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Agrégation 6 — Documents expirés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$unwind de la liste documents des chauffeurs.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dirty="0">
                <a:solidFill>
                  <a:srgbClr val="B34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documents sont expirés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(75 sur 300)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719072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grise</a:t>
            </a:r>
            <a:endParaRPr lang="en-US" sz="1450" dirty="0"/>
          </a:p>
        </p:txBody>
      </p:sp>
      <p:sp>
        <p:nvSpPr>
          <p:cNvPr id="9" name="card"/>
          <p:cNvSpPr/>
          <p:nvPr/>
        </p:nvSpPr>
        <p:spPr>
          <a:xfrm>
            <a:off x="5623560" y="2103120"/>
            <a:ext cx="1711757" cy="256032"/>
          </a:xfrm>
          <a:prstGeom prst="roundRect">
            <a:avLst>
              <a:gd name="adj" fmla="val 17857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3044952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450" dirty="0"/>
          </a:p>
        </p:txBody>
      </p:sp>
      <p:sp>
        <p:nvSpPr>
          <p:cNvPr id="13" name="card"/>
          <p:cNvSpPr/>
          <p:nvPr/>
        </p:nvSpPr>
        <p:spPr>
          <a:xfrm>
            <a:off x="5623560" y="3429000"/>
            <a:ext cx="1648358" cy="256032"/>
          </a:xfrm>
          <a:prstGeom prst="roundRect">
            <a:avLst>
              <a:gd name="adj" fmla="val 17857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4370832"/>
            <a:ext cx="457200" cy="457200"/>
          </a:xfrm>
          <a:prstGeom prst="ellipse">
            <a:avLst/>
          </a:prstGeom>
          <a:solidFill>
            <a:srgbClr val="3C5A78"/>
          </a:solidFill>
          <a:ln w="6350">
            <a:solidFill>
              <a:srgbClr val="3C5A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</a:t>
            </a:r>
            <a:endParaRPr lang="en-US" sz="1450" dirty="0"/>
          </a:p>
        </p:txBody>
      </p:sp>
      <p:sp>
        <p:nvSpPr>
          <p:cNvPr id="17" name="card"/>
          <p:cNvSpPr/>
          <p:nvPr/>
        </p:nvSpPr>
        <p:spPr>
          <a:xfrm>
            <a:off x="5623560" y="4754880"/>
            <a:ext cx="1394765" cy="256032"/>
          </a:xfrm>
          <a:prstGeom prst="roundRect">
            <a:avLst>
              <a:gd name="adj" fmla="val 17857"/>
            </a:avLst>
          </a:prstGeom>
          <a:solidFill>
            <a:srgbClr val="3C5A78"/>
          </a:solidFill>
          <a:ln w="9525">
            <a:solidFill>
              <a:srgbClr val="3C5A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5577840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avant l’échéance serait une amélioration utile.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27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INDEX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4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COLLSCAN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 documents examinés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00500" y="1874520"/>
            <a:ext cx="457200" cy="457200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005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343400" y="141732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600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INDEX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8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IXSCAN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21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 documents examinés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8138160" y="1417320"/>
            <a:ext cx="3502152" cy="1371600"/>
          </a:xfrm>
          <a:prstGeom prst="roundRect">
            <a:avLst>
              <a:gd name="adj" fmla="val 8000"/>
            </a:avLst>
          </a:prstGeom>
          <a:solidFill>
            <a:srgbClr val="0F2545"/>
          </a:solidFill>
          <a:ln w="9525">
            <a:solidFill>
              <a:srgbClr val="0F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5544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− 68 %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2402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documents lus, tri effectué directement dans l’index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UNIQUES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zones, chauffeurs, clients, courses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numero_permis — chauffeurs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vehicule.immatriculation — chauffeurs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evaluations.course (relation 0..1)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paiements.course (relation 0..1)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COMPOSÉS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(ville, statut, date) — courses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(zone, statut) — chauffeurs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(client, date) — courses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(chauffeur, date) — courses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2dsphere sur position — chauffeurs (bonus $near)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 volume (1 200 documents), le temps en millisecondes n’est pas significatif : c’est le nombre de documents examinés qui montre l’effet de l’index.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— preuve avec explain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réelle de agregations.py : effet de l’index composé (ville, statut, date) sur la même requête.</a:t>
            </a:r>
            <a:endParaRPr lang="en-US" sz="1250" dirty="0"/>
          </a:p>
        </p:txBody>
      </p:sp>
      <p:sp>
        <p:nvSpPr>
          <p:cNvPr id="4" name="card"/>
          <p:cNvSpPr/>
          <p:nvPr/>
        </p:nvSpPr>
        <p:spPr>
          <a:xfrm>
            <a:off x="1083564" y="2093976"/>
            <a:ext cx="10021824" cy="2342237"/>
          </a:xfrm>
          <a:prstGeom prst="roundRect">
            <a:avLst>
              <a:gd name="adj" fmla="val 3904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pic>
        <p:nvPicPr>
          <p:cNvPr id="5" name="Image 0" descr="/home/claude/deck_v2/cap_ex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240280"/>
            <a:ext cx="9692640" cy="20496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01389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filtre, même tri : sans index MongoDB lit toute la collection (COLLSCAN) ; avec l’index, seuls les 389 documents utiles sont examinés (IXSCAN), triés directement dans l’index.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C97A3E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1D32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2514600" y="3429000"/>
            <a:ext cx="548640" cy="9144"/>
          </a:xfrm>
          <a:prstGeom prst="line">
            <a:avLst/>
          </a:prstGeom>
          <a:noFill/>
          <a:ln w="44450">
            <a:solidFill>
              <a:srgbClr val="C97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91840" y="2971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du projet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rencontrées, répartition du travail et conclusion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B3402B"/>
          </a:solidFill>
          <a:ln w="6350">
            <a:solidFill>
              <a:srgbClr val="B34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27048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entre collections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65376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chauffeur et paiement doivent rester alignés sans transaction multi-documents en local → filtre sur l’ancien statut avant chaque mise à jour.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20624" cy="420624"/>
          </a:xfrm>
          <a:prstGeom prst="ellipse">
            <a:avLst/>
          </a:prstGeom>
          <a:solidFill>
            <a:srgbClr val="B3402B"/>
          </a:solidFill>
          <a:ln w="6350">
            <a:solidFill>
              <a:srgbClr val="B34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15768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test faussant les agrégations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054096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courses annulées en test mettait le taux d’annulation à 0 → génération reproductible (seed = 42) avant chaque mesure.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420624" cy="420624"/>
          </a:xfrm>
          <a:prstGeom prst="ellipse">
            <a:avLst/>
          </a:prstGeom>
          <a:solidFill>
            <a:srgbClr val="B3402B"/>
          </a:solidFill>
          <a:ln w="6350">
            <a:solidFill>
              <a:srgbClr val="B34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904488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 chauffeurs vide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242816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demande répartie uniformément ne donnait aucun chauffeur à 20 courses → poids inégaux à la génération.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420624" cy="420624"/>
          </a:xfrm>
          <a:prstGeom prst="ellipse">
            <a:avLst/>
          </a:prstGeom>
          <a:solidFill>
            <a:srgbClr val="B3402B"/>
          </a:solidFill>
          <a:ln w="6350">
            <a:solidFill>
              <a:srgbClr val="B34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093208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de l’index peu visible en temps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431536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1 200 documents, le gain en millisecondes est faible → on compare le nombre de documents examinés, pas le temps.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Répartition du travail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cinq membres du Groupe 04 traitent chacun le Projet 4 de façon indépendante.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8972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72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37944" y="2212848"/>
            <a:ext cx="64008" cy="9144"/>
          </a:xfrm>
          <a:prstGeom prst="line">
            <a:avLst/>
          </a:prstGeom>
          <a:noFill/>
          <a:ln w="15875">
            <a:solidFill>
              <a:srgbClr val="7C85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7148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2714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56816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212848"/>
            <a:ext cx="64008" cy="9144"/>
          </a:xfrm>
          <a:prstGeom prst="line">
            <a:avLst/>
          </a:prstGeom>
          <a:noFill/>
          <a:ln w="15875">
            <a:solidFill>
              <a:srgbClr val="7C859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5324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35324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54296" y="2212848"/>
            <a:ext cx="64008" cy="9144"/>
          </a:xfrm>
          <a:prstGeom prst="line">
            <a:avLst/>
          </a:prstGeom>
          <a:noFill/>
          <a:ln w="15875">
            <a:solidFill>
              <a:srgbClr val="7C85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3500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43500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73168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index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62472" y="2212848"/>
            <a:ext cx="64008" cy="9144"/>
          </a:xfrm>
          <a:prstGeom prst="line">
            <a:avLst/>
          </a:prstGeom>
          <a:noFill/>
          <a:ln w="15875">
            <a:solidFill>
              <a:srgbClr val="7C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1676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181344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(main.py)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70648" y="2212848"/>
            <a:ext cx="64008" cy="9144"/>
          </a:xfrm>
          <a:prstGeom prst="line">
            <a:avLst/>
          </a:prstGeom>
          <a:noFill/>
          <a:ln w="15875">
            <a:solidFill>
              <a:srgbClr val="7C859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9852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9852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78824" y="2212848"/>
            <a:ext cx="64008" cy="9144"/>
          </a:xfrm>
          <a:prstGeom prst="line">
            <a:avLst/>
          </a:prstGeom>
          <a:noFill/>
          <a:ln w="15875">
            <a:solidFill>
              <a:srgbClr val="7C859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68028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6802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997696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87000" y="2212848"/>
            <a:ext cx="64008" cy="9144"/>
          </a:xfrm>
          <a:prstGeom prst="line">
            <a:avLst/>
          </a:prstGeom>
          <a:noFill/>
          <a:ln w="15875">
            <a:solidFill>
              <a:srgbClr val="7C859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76204" y="1965960"/>
            <a:ext cx="493776" cy="493776"/>
          </a:xfrm>
          <a:prstGeom prst="ellipse">
            <a:avLst/>
          </a:prstGeom>
          <a:solidFill>
            <a:srgbClr val="C97A3E"/>
          </a:solidFill>
          <a:ln w="6350">
            <a:solidFill>
              <a:srgbClr val="C97A3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776204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405872" y="26060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vidéo</a:t>
            </a:r>
            <a:endParaRPr lang="en-US" sz="1050" dirty="0"/>
          </a:p>
        </p:txBody>
      </p:sp>
      <p:sp>
        <p:nvSpPr>
          <p:cNvPr id="35" name="card"/>
          <p:cNvSpPr/>
          <p:nvPr/>
        </p:nvSpPr>
        <p:spPr>
          <a:xfrm>
            <a:off x="548640" y="352044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 w="9525">
            <a:solidFill>
              <a:srgbClr val="EEF2F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" y="3749040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KONO TCHOUMBA Jordan Julien Claude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411480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Modélisation, génération des données, CRUD, agrégations et index, menu principal, tests, exports et rédaction du rapport.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4C8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4533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justifiée (imbriquer / référencer)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complet, erreurs gérées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agrégations interprétées, index démontrés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JSON et CSV réimportés avec succès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67784" y="141732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67784" y="1828800"/>
            <a:ext cx="34533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transaction multi-documents en local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générées, pas de trafic réel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ne dépend pas du véhicule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86928" y="141732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C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D’AMÉLIORATION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86928" y="1828800"/>
            <a:ext cx="345338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$near des chauffeurs proches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différencié par type de véhicule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DCE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avant l’expiration des documents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091672" cy="9144"/>
          </a:xfrm>
          <a:prstGeom prst="line">
            <a:avLst/>
          </a:prstGeom>
          <a:noFill/>
          <a:ln w="9525">
            <a:solidFill>
              <a:srgbClr val="243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KONO TCHOUMBA Jordan Julien Claude — SDIA-4, Groupe 04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portV2">
  <a:themeElements>
    <a:clrScheme name="TransportV2">
      <a:dk1>
        <a:srgbClr val="1C2530"/>
      </a:dk1>
      <a:lt1>
        <a:srgbClr val="FFFFFF"/>
      </a:lt1>
      <a:dk2>
        <a:srgbClr val="0F2545"/>
      </a:dk2>
      <a:lt2>
        <a:srgbClr val="EEF2F7"/>
      </a:lt2>
      <a:accent1>
        <a:srgbClr val="C97A3E"/>
      </a:accent1>
      <a:accent2>
        <a:srgbClr val="1F6F6B"/>
      </a:accent2>
      <a:accent3>
        <a:srgbClr val="3C5A78"/>
      </a:accent3>
      <a:accent4>
        <a:srgbClr val="7C8591"/>
      </a:accent4>
      <a:accent5>
        <a:srgbClr val="B3402B"/>
      </a:accent5>
      <a:accent6>
        <a:srgbClr val="4C8C62"/>
      </a:accent6>
      <a:hlink>
        <a:srgbClr val="3C5A78"/>
      </a:hlink>
      <a:folHlink>
        <a:srgbClr val="C97A3E"/>
      </a:folHlink>
    </a:clrScheme>
    <a:fontScheme name="TransportV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4 — Transport et livraison</dc:title>
  <dc:subject>PptxGenJS Presentation</dc:subject>
  <dc:creator>Kono Tchoumba Jordan Julien Claude</dc:creator>
  <cp:lastModifiedBy>Kono Tchoumba Jordan Julien Claude</cp:lastModifiedBy>
  <cp:revision>1</cp:revision>
  <dcterms:created xsi:type="dcterms:W3CDTF">2026-10-06T18:18:26Z</dcterms:created>
  <dcterms:modified xsi:type="dcterms:W3CDTF">2026-10-06T18:18:26Z</dcterms:modified>
</cp:coreProperties>
</file>